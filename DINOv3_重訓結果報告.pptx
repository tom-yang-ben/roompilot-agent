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1F1F"/>
                </a:solidFill>
              </a:rPr>
              <a:t>DINOv3 換骨幹重訓 — A/B 結果與採用方案</a:t>
            </a:r>
          </a:p>
          <a:p>
            <a:r>
              <a:rPr sz="2800" b="1">
                <a:solidFill>
                  <a:srgbClr val="2E74B5"/>
                </a:solidFill>
              </a:rPr>
              <a:t>結論：分域混合 — 灰階留 DINOv2、彩色換 DINOv3</a:t>
            </a:r>
          </a:p>
          <a:p>
            <a:r>
              <a:rPr sz="1600">
                <a:solidFill>
                  <a:srgbClr val="1F1F1F"/>
                </a:solidFill>
              </a:rPr>
              <a:t>依據：兩域 crop 層 A/B 結果方向相反（灰 −8.3pp／彩 +8.1pp）；雙頭架構本就分域，各頭可獨立選骨幹</a:t>
            </a:r>
          </a:p>
          <a:p>
            <a:r>
              <a:rPr sz="1300">
                <a:solidFill>
                  <a:srgbClr val="666666"/>
                </a:solidFill>
              </a:rPr>
              <a:t>2026-08-12 · A 機 RTX 3060 Laptop · 分支 cody-DINOv3 · 詳細數據：training/RETRAIN_DINOV3.md D 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1F1F"/>
                </a:solidFill>
              </a:rPr>
              <a:t>crop 層 A/B — 兩域方向相反</a:t>
            </a:r>
          </a:p>
          <a:p>
            <a:r>
              <a:rPr sz="1400">
                <a:solidFill>
                  <a:srgbClr val="666666"/>
                </a:solidFill>
              </a:rPr>
              <a:t>同裁切、同腳本、SEED 42；房型頭線性層重訓後於保留集量測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77724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554480"/>
                <a:gridCol w="1554480"/>
                <a:gridCol w="155448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800" b="1"/>
                        <a:t>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DINOv2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DINOv3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Δ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800" b="0"/>
                        <a:t>灰階（72 房保留集）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86.1%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77.8%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C0392B"/>
                          </a:solidFill>
                        </a:rPr>
                        <a:t>−8.3pp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800" b="0"/>
                        <a:t>彩色（62 房保留集）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83.9%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91.9%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E7D32"/>
                          </a:solidFill>
                        </a:rPr>
                        <a:t>+8.1pp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20040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1F1F1F"/>
                </a:solidFill>
              </a:rPr>
              <a:t>• 為何灰階 v2 高（機理推測，數據見下）：灰階圖是細線稀疏線稿，v2 的 patch14 特徵格較細（224² 內 256 格 vs v3 patch16 的 196 格），細線證據在較粗的 16px patch 中被稀釋</a:t>
            </a:r>
          </a:p>
          <a:p>
            <a:pPr lvl="1"/>
            <a:r>
              <a:rPr sz="1300">
                <a:solidFill>
                  <a:srgbClr val="666666"/>
                </a:solidFill>
              </a:rPr>
              <a:t>– 排除其他解釋：非特徵尺度問題（L2 正規化僅回 80.6%）、非取法問題（pooler／patch 平均／CLS‖patch 全試 ≤80.6%）</a:t>
            </a:r>
          </a:p>
          <a:p>
            <a:pPr/>
            <a:r>
              <a:rPr sz="1500">
                <a:solidFill>
                  <a:srgbClr val="1F1F1F"/>
                </a:solidFill>
              </a:rPr>
              <a:t>• 為何彩色 v3 高：彩圖以色塊填滿、紋理接近自然影像，v3 更強的預訓練特徵直接兌現——房型頭 +8.1pp，分割頭 LOIO AUC 0.985/IoU 0.907 亦優於 v2 的 0.974</a:t>
            </a:r>
          </a:p>
          <a:p>
            <a:pPr/>
            <a:r>
              <a:rPr sz="1500">
                <a:solidFill>
                  <a:srgbClr val="1F1F1F"/>
                </a:solidFill>
              </a:rPr>
              <a:t>• 離線探針早有此傾向：NC 0.536→0.573、kNN 0.621→0.657 的小幅增益主要由彩域貢獻</a:t>
            </a:r>
          </a:p>
          <a:p>
            <a:pPr/>
            <a:r>
              <a:rPr sz="1500">
                <a:solidFill>
                  <a:srgbClr val="1F1F1F"/>
                </a:solidFill>
              </a:rPr>
              <a:t>• 兩個 v2 基準數字皆與歷史紀錄一致 → 訓練管線可信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1F1F"/>
                </a:solidFill>
              </a:rPr>
              <a:t>端到端四量尺 — 現況與缺口</a:t>
            </a:r>
          </a:p>
          <a:p>
            <a:r>
              <a:rPr sz="1400">
                <a:solidFill>
                  <a:srgbClr val="666666"/>
                </a:solidFill>
              </a:rPr>
              <a:t>混合配置（灰 v2＋彩 v3）；口徑同 v2.33（切割正確性 / 核心5項判讀率）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383280"/>
                <a:gridCol w="356616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1"/>
                        <a:t>量尺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/>
                        <a:t>基準 v2.33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/>
                        <a:t>混合配置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/>
                        <a:t>Δ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0"/>
                        <a:t>彩 dev（19 題）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/>
                        <a:t>76.3% / 74.5%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/>
                        <a:t>73.0% / 69.1%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</a:rPr>
                        <a:t>−3.3 / −5.4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0"/>
                        <a:t>彩 holdout（12 題）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/>
                        <a:t>69.3% / 66.7%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/>
                        <a:t>67.7% / 64.7%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</a:rPr>
                        <a:t>−1.6 / −2.0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0"/>
                        <a:t>灰 dev / holdout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/>
                        <a:t>88.9% / 91.8%，83.3% / 75.0%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/>
                        <a:t>不變（灰路徑未動，holdout 已實測重現）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E7D3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749039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1F1F1F"/>
                </a:solidFill>
              </a:rPr>
              <a:t>• 誠實揭露：彩色端到端目前仍低於基準——crop 層 +8.1pp 尚未兌現，缺口在管線幾何規則、不在骨幹</a:t>
            </a:r>
          </a:p>
          <a:p>
            <a:pPr/>
            <a:r>
              <a:rPr sz="1500">
                <a:solidFill>
                  <a:srgbClr val="1F1F1F"/>
                </a:solidFill>
              </a:rPr>
              <a:t>• 基準重現：v2 彩 dev 76.3/74.5、灰 holdout 83.3/75.0 於新機逐字重現 v2.33 → 環境與程式適配無虞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1F1F"/>
                </a:solidFill>
              </a:rPr>
              <a:t>缺口拆源與採用前提</a:t>
            </a:r>
          </a:p>
          <a:p>
            <a:r>
              <a:rPr sz="1400">
                <a:solidFill>
                  <a:srgbClr val="666666"/>
                </a:solidFill>
              </a:rPr>
              <a:t>彩 dev 上以 SEG_BANDS=0 隔離語意牆帶影響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6858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1"/>
                        <a:t>配置（彩 dev）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/>
                        <a:t>切割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/>
                        <a:t>核心5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0"/>
                        <a:t>v2 頭 + v2 牆帶（基準）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/>
                        <a:t>76.3%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/>
                        <a:t>74.5%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0"/>
                        <a:t>v2 頭 + 關牆帶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/>
                        <a:t>75.0%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/>
                        <a:t>71.8%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0"/>
                        <a:t>v3 頭 + 關牆帶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/>
                        <a:t>73.7%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/>
                        <a:t>70.0%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0"/>
                        <a:t>v3 頭 + v3 牆帶（混合配置）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/>
                        <a:t>73.0%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/>
                        <a:t>69.1%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79476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1F1F1F"/>
                </a:solidFill>
              </a:rPr>
              <a:t>• 缺口機理：幾何規則閾值（如 Bedroom 0.70 門檻、Entry 進幾何規則的信心門檻）全依 v2 的機率分佈調校；v3 頭信心分佈不同，規則層吃不到 crop 層的增益，牆帶參數（RIDGE_P 0.45 等）同理</a:t>
            </a:r>
          </a:p>
          <a:p>
            <a:pPr/>
            <a:r>
              <a:rPr sz="1500">
                <a:solidFill>
                  <a:srgbClr val="1F1F1F"/>
                </a:solidFill>
              </a:rPr>
              <a:t>• 採用前提（出貨前必做）：對 v3 機率分佈重調幾何規則閾值與牆帶參數，彩色四量尺須淨正向才收</a:t>
            </a:r>
          </a:p>
          <a:p>
            <a:pPr/>
            <a:r>
              <a:rPr sz="1500">
                <a:solidFill>
                  <a:srgbClr val="1F1F1F"/>
                </a:solidFill>
              </a:rPr>
              <a:t>• 已就緒：四支檔 HF/DINOv3 骨幹路已適配（tests 226 全過、v2 行為實證不變）；v3 資產 SEED 固定可精確重現</a:t>
            </a:r>
          </a:p>
          <a:p>
            <a:pPr/>
            <a:r>
              <a:rPr sz="1500">
                <a:solidFill>
                  <a:srgbClr val="1F1F1F"/>
                </a:solidFill>
              </a:rPr>
              <a:t>• 授權：DINOv3 非 Apache 2.0（Meta 自訂授權），出貨採用前須法務；內部評測在授權內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