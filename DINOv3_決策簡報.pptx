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C6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6B9C"/>
                </a:solidFill>
                <a:latin typeface="Microsoft JhengHei"/>
                <a:ea typeface="Microsoft JhengHei"/>
              </a:rPr>
              <a:t>工程決策簡報  ·  GO / NO-GO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71A1F"/>
                </a:solidFill>
                <a:latin typeface="Microsoft JhengHei"/>
                <a:ea typeface="Microsoft JhengHei"/>
              </a:rPr>
              <a:t>DINOv2 → DINOv3 骨幹抽換評估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4B535F"/>
                </a:solidFill>
                <a:latin typeface="Microsoft JhengHei"/>
                <a:ea typeface="Microsoft JhengHei"/>
              </a:rPr>
              <a:t>主管提案：以 DINOv3 取代現行 DINOv2 重跑，預期提升房型辨識率。本簡報就授權、技術、成本、增益四面向查證，供拍板。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828E"/>
                </a:solidFill>
                <a:latin typeface="Microsoft JhengHei"/>
                <a:ea typeface="Microsoft JhengHei"/>
              </a:rPr>
              <a:t>專案 RoomPilot 辨識管線     分支 cody     基準版本 v2.33     日期 2026-08-10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03320"/>
            <a:ext cx="10817352" cy="1600200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703320"/>
            <a:ext cx="91440" cy="1600200"/>
          </a:xfrm>
          <a:prstGeom prst="rect">
            <a:avLst/>
          </a:prstGeom>
          <a:solidFill>
            <a:srgbClr val="B2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3950208"/>
            <a:ext cx="1554480" cy="384048"/>
          </a:xfrm>
          <a:prstGeom prst="roundRect">
            <a:avLst>
              <a:gd name="adj" fmla="val 6000"/>
            </a:avLst>
          </a:prstGeom>
          <a:solidFill>
            <a:srgbClr val="B23A2B"/>
          </a:solidFill>
          <a:ln w="12700">
            <a:solidFill>
              <a:srgbClr val="B2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950208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</a:rPr>
              <a:t>建議暫緩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52628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5C2A22"/>
                </a:solidFill>
                <a:latin typeface="Microsoft JhengHei"/>
                <a:ea typeface="Microsoft JhengHei"/>
              </a:rPr>
              <a:t>此案非「照做重跑」可決。準確率提升目前無法驗證為真；且即使為真，先卡在一道授權硬關卡——該關卡未經主管與法務裁決前，不建議投入換機重訓算力。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C6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6B9C"/>
                </a:solidFill>
                <a:latin typeface="Microsoft JhengHei"/>
                <a:ea typeface="Microsoft JhengHei"/>
              </a:rPr>
              <a:t>三道關卡評估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71A1F"/>
                </a:solidFill>
                <a:latin typeface="Microsoft JhengHei"/>
                <a:ea typeface="Microsoft JhengHei"/>
              </a:rPr>
              <a:t>四面向查證結果 · 一紅二黃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01568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3401568" cy="118872"/>
          </a:xfrm>
          <a:prstGeom prst="rect">
            <a:avLst/>
          </a:prstGeom>
          <a:solidFill>
            <a:srgbClr val="B2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84248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828E"/>
                </a:solidFill>
                <a:latin typeface="Microsoft JhengHei"/>
                <a:ea typeface="Microsoft JhengHei"/>
              </a:rPr>
              <a:t>關卡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58568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71A1F"/>
                </a:solidFill>
                <a:latin typeface="Microsoft JhengHei"/>
                <a:ea typeface="Microsoft JhengHei"/>
              </a:rPr>
              <a:t>授權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2770632"/>
            <a:ext cx="2889504" cy="329184"/>
          </a:xfrm>
          <a:prstGeom prst="roundRect">
            <a:avLst>
              <a:gd name="adj" fmla="val 6000"/>
            </a:avLst>
          </a:prstGeom>
          <a:solidFill>
            <a:srgbClr val="F9ECE9"/>
          </a:solidFill>
          <a:ln w="12700">
            <a:solidFill>
              <a:srgbClr val="B2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770632"/>
            <a:ext cx="28895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B23A2B"/>
                </a:solidFill>
                <a:latin typeface="Microsoft JhengHei"/>
                <a:ea typeface="Microsoft JhengHei"/>
              </a:rPr>
              <a:t>阻擋級 · 需法務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264408"/>
            <a:ext cx="294436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4B535F"/>
                </a:solidFill>
                <a:latin typeface="Microsoft JhengHei"/>
                <a:ea typeface="Microsoft JhengHei"/>
              </a:rPr>
              <a:t>DINOv3 為 Meta 自訂授權（非 Apache 2.0）。商用有開放，但須隨附授權全文、產品顯著標示「Built with DINOv3」，社群明列需法務逐案審查。與本專案立案根基衝突——當初改用 DINOv2 正是為 Apache 2.0 乾淨可商用。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91640"/>
            <a:ext cx="3401568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691640"/>
            <a:ext cx="3401568" cy="118872"/>
          </a:xfrm>
          <a:prstGeom prst="rect">
            <a:avLst/>
          </a:prstGeom>
          <a:solidFill>
            <a:srgbClr val="A9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984248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828E"/>
                </a:solidFill>
                <a:latin typeface="Microsoft JhengHei"/>
                <a:ea typeface="Microsoft JhengHei"/>
              </a:rPr>
              <a:t>關卡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258568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71A1F"/>
                </a:solidFill>
                <a:latin typeface="Microsoft JhengHei"/>
                <a:ea typeface="Microsoft JhengHei"/>
              </a:rPr>
              <a:t>技術可行性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5152" y="2770632"/>
            <a:ext cx="2889504" cy="329184"/>
          </a:xfrm>
          <a:prstGeom prst="roundRect">
            <a:avLst>
              <a:gd name="adj" fmla="val 6000"/>
            </a:avLst>
          </a:prstGeom>
          <a:solidFill>
            <a:srgbClr val="FAF2E2"/>
          </a:solidFill>
          <a:ln w="12700">
            <a:solidFill>
              <a:srgbClr val="A97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2770632"/>
            <a:ext cx="28895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A9711A"/>
                </a:solidFill>
                <a:latin typeface="Microsoft JhengHei"/>
                <a:ea typeface="Microsoft JhengHei"/>
              </a:rPr>
              <a:t>需工程 · 非 drop-in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264408"/>
            <a:ext cx="294436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4B535F"/>
                </a:solidFill>
                <a:latin typeface="Microsoft JhengHei"/>
                <a:ea typeface="Microsoft JhengHei"/>
              </a:rPr>
              <a:t>patch 14→16、新增 4 register tokens、RoPE、gated 下載。嵌入維度同為 384（線性頭形狀相容），但特徵全異——三顆頭須全部重訓，seg_head 的 patch 格與取用邏輯要重調。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91640"/>
            <a:ext cx="3401568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91640"/>
            <a:ext cx="3401568" cy="118872"/>
          </a:xfrm>
          <a:prstGeom prst="rect">
            <a:avLst/>
          </a:prstGeom>
          <a:solidFill>
            <a:srgbClr val="A9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1" y="1984248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828E"/>
                </a:solidFill>
                <a:latin typeface="Microsoft JhengHei"/>
                <a:ea typeface="Microsoft JhengHei"/>
              </a:rPr>
              <a:t>關卡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2258568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71A1F"/>
                </a:solidFill>
                <a:latin typeface="Microsoft JhengHei"/>
                <a:ea typeface="Microsoft JhengHei"/>
              </a:rPr>
              <a:t>重訓成本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48471" y="2770632"/>
            <a:ext cx="2889504" cy="329184"/>
          </a:xfrm>
          <a:prstGeom prst="roundRect">
            <a:avLst>
              <a:gd name="adj" fmla="val 6000"/>
            </a:avLst>
          </a:prstGeom>
          <a:solidFill>
            <a:srgbClr val="FAF2E2"/>
          </a:solidFill>
          <a:ln w="12700">
            <a:solidFill>
              <a:srgbClr val="A97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1" y="2770632"/>
            <a:ext cx="28895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A9711A"/>
                </a:solidFill>
                <a:latin typeface="Microsoft JhengHei"/>
                <a:ea typeface="Microsoft JhengHei"/>
              </a:rPr>
              <a:t>需算力 · 須換機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1" y="3264408"/>
            <a:ext cx="294436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4B535F"/>
                </a:solidFill>
                <a:latin typeface="Microsoft JhengHei"/>
                <a:ea typeface="Microsoft JhengHei"/>
              </a:rPr>
              <a:t>cody 機無 GPU（WSL / torch CPU，實測 cuda False）。重訓依既定流程須換機（RTX 3060 / GTX 1650）。鐵律：先重跑 extract_room_crops.py 重生裁切，不得沿用舊裁切。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C6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6B9C"/>
                </a:solidFill>
                <a:latin typeface="Microsoft JhengHei"/>
                <a:ea typeface="Microsoft JhengHei"/>
              </a:rPr>
              <a:t>為什麼「換 backbone」的增益上限本來就有限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B535F"/>
                </a:solidFill>
                <a:latin typeface="Microsoft JhengHei"/>
                <a:ea typeface="Microsoft JhengHei"/>
              </a:rPr>
              <a:t>程式碼自身的失敗歸因：殘餘錯誤大多不受 backbone 特徵品質支配。命名層在切對的房內已達 own_eval 87.5% ／ 灰 dev 91.8%。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2148839"/>
            <a:ext cx="1417320" cy="384048"/>
          </a:xfrm>
          <a:prstGeom prst="roundRect">
            <a:avLst>
              <a:gd name="adj" fmla="val 6000"/>
            </a:avLst>
          </a:prstGeom>
          <a:solidFill>
            <a:srgbClr val="F9ECE9"/>
          </a:solidFill>
          <a:ln w="12700">
            <a:solidFill>
              <a:srgbClr val="B2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48839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B23A2B"/>
                </a:solidFill>
                <a:latin typeface="Microsoft JhengHei"/>
                <a:ea typeface="Microsoft JhengHei"/>
              </a:rPr>
              <a:t>不可能修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002536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71A1F"/>
                </a:solidFill>
                <a:latin typeface="Microsoft JhengHei"/>
                <a:ea typeface="Microsoft JhengHei"/>
              </a:rPr>
              <a:t>Entry vs Hallway（賠最多）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331720"/>
            <a:ext cx="8823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80" b="0">
                <a:solidFill>
                  <a:srgbClr val="4B535F"/>
                </a:solidFill>
                <a:latin typeface="Microsoft JhengHei"/>
                <a:ea typeface="Microsoft JhengHei"/>
              </a:rPr>
              <a:t>裁切圖外觀完全相同，區分資訊在通行關係而非影像——資訊理論下限，換再強骨幹也學不到，已靠 _entry_or_hallway 幾何規則救。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35224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3209544"/>
            <a:ext cx="1417320" cy="384048"/>
          </a:xfrm>
          <a:prstGeom prst="roundRect">
            <a:avLst>
              <a:gd name="adj" fmla="val 6000"/>
            </a:avLst>
          </a:prstGeom>
          <a:solidFill>
            <a:srgbClr val="F9ECE9"/>
          </a:solidFill>
          <a:ln w="12700">
            <a:solidFill>
              <a:srgbClr val="B2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09544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B23A2B"/>
                </a:solidFill>
                <a:latin typeface="Microsoft JhengHei"/>
                <a:ea typeface="Microsoft JhengHei"/>
              </a:rPr>
              <a:t>無關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06324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71A1F"/>
                </a:solidFill>
                <a:latin typeface="Microsoft JhengHei"/>
                <a:ea typeface="Microsoft JhengHei"/>
              </a:rPr>
              <a:t>空間切割失敗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392424"/>
            <a:ext cx="8823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80" b="0">
                <a:solidFill>
                  <a:srgbClr val="4B535F"/>
                </a:solidFill>
                <a:latin typeface="Microsoft JhengHei"/>
                <a:ea typeface="Microsoft JhengHei"/>
              </a:rPr>
              <a:t>floor02 圍欄線缺、floor13/09 整圖零符號、floor64 中距開口——全在 floorplan2dxf_color.py 幾何偵測層，與命名骨幹完全無關。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95928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4270248"/>
            <a:ext cx="1417320" cy="384048"/>
          </a:xfrm>
          <a:prstGeom prst="roundRect">
            <a:avLst>
              <a:gd name="adj" fmla="val 6000"/>
            </a:avLst>
          </a:prstGeom>
          <a:solidFill>
            <a:srgbClr val="F9ECE9"/>
          </a:solidFill>
          <a:ln w="12700">
            <a:solidFill>
              <a:srgbClr val="B2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270248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B23A2B"/>
                </a:solidFill>
                <a:latin typeface="Microsoft JhengHei"/>
                <a:ea typeface="Microsoft JhengHei"/>
              </a:rPr>
              <a:t>無關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123944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71A1F"/>
                </a:solidFill>
                <a:latin typeface="Microsoft JhengHei"/>
                <a:ea typeface="Microsoft JhengHei"/>
              </a:rPr>
              <a:t>Garage 零樣本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453128"/>
            <a:ext cx="8823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80" b="0">
                <a:solidFill>
                  <a:srgbClr val="4B535F"/>
                </a:solidFill>
                <a:latin typeface="Microsoft JhengHei"/>
                <a:ea typeface="Microsoft JhengHei"/>
              </a:rPr>
              <a:t>線性頭該通道未經訓練，任何 backbone 都救不了零資料的類別。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056632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" y="5330952"/>
            <a:ext cx="1417320" cy="384048"/>
          </a:xfrm>
          <a:prstGeom prst="roundRect">
            <a:avLst>
              <a:gd name="adj" fmla="val 6000"/>
            </a:avLst>
          </a:prstGeom>
          <a:solidFill>
            <a:srgbClr val="FAF2E2"/>
          </a:solidFill>
          <a:ln w="12700">
            <a:solidFill>
              <a:srgbClr val="A97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330952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A9711A"/>
                </a:solidFill>
                <a:latin typeface="Microsoft JhengHei"/>
                <a:ea typeface="Microsoft JhengHei"/>
              </a:rPr>
              <a:t>或許小改善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5184648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71A1F"/>
                </a:solidFill>
                <a:latin typeface="Microsoft JhengHei"/>
                <a:ea typeface="Microsoft JhengHei"/>
              </a:rPr>
              <a:t>個案級誤判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5513832"/>
            <a:ext cx="8823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80" b="0">
                <a:solidFill>
                  <a:srgbClr val="4B535F"/>
                </a:solidFill>
                <a:latin typeface="Microsoft JhengHei"/>
                <a:ea typeface="Microsoft JhengHei"/>
              </a:rPr>
              <a:t>如 floor61 走道被判 Bedroom 0.70——這類才是更強骨幹可能翻盤的頭，屬個案。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135624"/>
            <a:ext cx="10817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7A828E"/>
                </a:solidFill>
                <a:latin typeface="Microsoft JhengHei"/>
                <a:ea typeface="Microsoft JhengHei"/>
              </a:rPr>
              <a:t>風險：DINOv3 增益集中於自然影像與密集預測；本專案是建築線稿（對兩代 DINO 皆 OOD）＋約 157 張裁切的線性探針，遷移增益高度不確定，甚至可能持平或倒退。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C6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6B9C"/>
                </a:solidFill>
                <a:latin typeface="Microsoft JhengHei"/>
                <a:ea typeface="Microsoft JhengHei"/>
              </a:rPr>
              <a:t>現行基準 · v2.33 標準口徑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71A1F"/>
                </a:solidFill>
                <a:latin typeface="Microsoft JhengHei"/>
                <a:ea typeface="Microsoft JhengHei"/>
              </a:rPr>
              <a:t>命名 = 三層加權投票，DINOv3 只動其中「層 1」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920240"/>
            <a:ext cx="9235440" cy="658368"/>
          </a:xfrm>
          <a:prstGeom prst="rect">
            <a:avLst/>
          </a:prstGeom>
          <a:solidFill>
            <a:srgbClr val="2C6B9C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920240"/>
            <a:ext cx="3200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量尺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920240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空間切割正確性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920240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核心 5 類判讀率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2578608"/>
            <a:ext cx="9235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2578608"/>
            <a:ext cx="3200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71A1F"/>
                </a:solidFill>
                <a:latin typeface="Microsoft JhengHei"/>
                <a:ea typeface="Microsoft JhengHei"/>
              </a:rPr>
              <a:t>灰階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578608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C6B9C"/>
                </a:solidFill>
                <a:latin typeface="Microsoft JhengHei"/>
                <a:ea typeface="Microsoft JhengHei"/>
              </a:rPr>
              <a:t>88.9%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578608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C6B9C"/>
                </a:solidFill>
                <a:latin typeface="Microsoft JhengHei"/>
                <a:ea typeface="Microsoft JhengHei"/>
              </a:rPr>
              <a:t>91.8%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3236976"/>
            <a:ext cx="9235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3236976"/>
            <a:ext cx="3200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71A1F"/>
                </a:solidFill>
                <a:latin typeface="Microsoft JhengHei"/>
                <a:ea typeface="Microsoft JhengHei"/>
              </a:rPr>
              <a:t>灰階 holdout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236976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C6B9C"/>
                </a:solidFill>
                <a:latin typeface="Microsoft JhengHei"/>
                <a:ea typeface="Microsoft JhengHei"/>
              </a:rPr>
              <a:t>83.3%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236976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C6B9C"/>
                </a:solidFill>
                <a:latin typeface="Microsoft JhengHei"/>
                <a:ea typeface="Microsoft JhengHei"/>
              </a:rPr>
              <a:t>75.0%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3895344"/>
            <a:ext cx="9235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895344"/>
            <a:ext cx="3200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71A1F"/>
                </a:solidFill>
                <a:latin typeface="Microsoft JhengHei"/>
                <a:ea typeface="Microsoft JhengHei"/>
              </a:rPr>
              <a:t>彩色 dev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895344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C6B9C"/>
                </a:solidFill>
                <a:latin typeface="Microsoft JhengHei"/>
                <a:ea typeface="Microsoft JhengHei"/>
              </a:rPr>
              <a:t>76.3%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895344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C6B9C"/>
                </a:solidFill>
                <a:latin typeface="Microsoft JhengHei"/>
                <a:ea typeface="Microsoft JhengHei"/>
              </a:rPr>
              <a:t>74.5%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4553712"/>
            <a:ext cx="9235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4553712"/>
            <a:ext cx="3200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71A1F"/>
                </a:solidFill>
                <a:latin typeface="Microsoft JhengHei"/>
                <a:ea typeface="Microsoft JhengHei"/>
              </a:rPr>
              <a:t>彩色 holdout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553712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C6B9C"/>
                </a:solidFill>
                <a:latin typeface="Microsoft JhengHei"/>
                <a:ea typeface="Microsoft JhengHei"/>
              </a:rPr>
              <a:t>69.3%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553712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C6B9C"/>
                </a:solidFill>
                <a:latin typeface="Microsoft JhengHei"/>
                <a:ea typeface="Microsoft JhengHei"/>
              </a:rPr>
              <a:t>66.7%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440679"/>
            <a:ext cx="9235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828E"/>
                </a:solidFill>
                <a:latin typeface="Microsoft JhengHei"/>
                <a:ea typeface="Microsoft JhengHei"/>
              </a:rPr>
              <a:t>層 1 DINOv2 機率 1.0　＋　層 4 符號 0.15–0.6　＋　層 5 OCR 文字 1.3。符號證據層與切割層不受換骨幹影響。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C6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6B9C"/>
                </a:solidFill>
                <a:latin typeface="Microsoft JhengHei"/>
                <a:ea typeface="Microsoft JhengHei"/>
              </a:rPr>
              <a:t>若授權關卡通過 · 唯一能「驗證」增益的做法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71A1F"/>
                </a:solidFill>
                <a:latin typeface="Microsoft JhengHei"/>
                <a:ea typeface="Microsoft JhengHei"/>
              </a:rPr>
              <a:t>照本專案既有紀律做 A/B 對拍，其餘皆屬推測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92224"/>
            <a:ext cx="566928" cy="566928"/>
          </a:xfrm>
          <a:prstGeom prst="roundRect">
            <a:avLst>
              <a:gd name="adj" fmla="val 6000"/>
            </a:avLst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9222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B23A2B"/>
                </a:solidFill>
                <a:latin typeface="Microsoft JhengHei"/>
                <a:ea typeface="Microsoft JhengHe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3736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71A1F"/>
                </a:solidFill>
                <a:latin typeface="Microsoft JhengHei"/>
                <a:ea typeface="Microsoft JhengHei"/>
              </a:rPr>
              <a:t>主管＋法務裁決 DINOv3 授權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0312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B535F"/>
                </a:solidFill>
                <a:latin typeface="Microsoft JhengHei"/>
                <a:ea typeface="Microsoft JhengHei"/>
              </a:rPr>
              <a:t>對照捨 CubiCasa（CC BY-NC）改採 DINOv2（Apache 2.0）的理由裁定。go/no-go 硬關卡。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24912"/>
            <a:ext cx="566928" cy="566928"/>
          </a:xfrm>
          <a:prstGeom prst="roundRect">
            <a:avLst>
              <a:gd name="adj" fmla="val 6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249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2C6B9C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7004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71A1F"/>
                </a:solidFill>
                <a:latin typeface="Microsoft JhengHei"/>
                <a:ea typeface="Microsoft JhengHei"/>
              </a:rPr>
              <a:t>換機（GPU）＋重生裁切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0358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B535F"/>
                </a:solidFill>
                <a:latin typeface="Microsoft JhengHei"/>
                <a:ea typeface="Microsoft JhengHei"/>
              </a:rPr>
              <a:t>跑 extract_room_crops.py 從最新答案卷重生同一批裁切。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5760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2C6B9C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602736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71A1F"/>
                </a:solidFill>
                <a:latin typeface="Microsoft JhengHei"/>
                <a:ea typeface="Microsoft JhengHei"/>
              </a:rPr>
              <a:t>同批裁切重訓三顆頭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968496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B535F"/>
                </a:solidFill>
                <a:latin typeface="Microsoft JhengHei"/>
                <a:ea typeface="Microsoft JhengHei"/>
              </a:rPr>
              <a:t>灰／彩雙頭＋seg_head，完成 patch16／register token 適配。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590288"/>
            <a:ext cx="566928" cy="566928"/>
          </a:xfrm>
          <a:prstGeom prst="roundRect">
            <a:avLst>
              <a:gd name="adj" fmla="val 6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902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2C6B9C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535424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71A1F"/>
                </a:solidFill>
                <a:latin typeface="Microsoft JhengHei"/>
                <a:ea typeface="Microsoft JhengHei"/>
              </a:rPr>
              <a:t>四量尺逐張 A/B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901184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B535F"/>
                </a:solidFill>
                <a:latin typeface="Microsoft JhengHei"/>
                <a:ea typeface="Microsoft JhengHei"/>
              </a:rPr>
              <a:t>灰／彩 × dev；holdout 只在收尾量一次。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522976"/>
            <a:ext cx="566928" cy="566928"/>
          </a:xfrm>
          <a:prstGeom prst="roundRect">
            <a:avLst>
              <a:gd name="adj" fmla="val 6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229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2C6B9C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46811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71A1F"/>
                </a:solidFill>
                <a:latin typeface="Microsoft JhengHei"/>
                <a:ea typeface="Microsoft JhengHei"/>
              </a:rPr>
              <a:t>淨正向才收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83387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B535F"/>
                </a:solidFill>
                <a:latin typeface="Microsoft JhengHei"/>
                <a:ea typeface="Microsoft JhengHei"/>
              </a:rPr>
              <a:t>逐張確認非拆東補西，報表落 temp/json/。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C6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6B9C"/>
                </a:solidFill>
                <a:latin typeface="Microsoft JhengHei"/>
                <a:ea typeface="Microsoft JhengHei"/>
              </a:rPr>
              <a:t>取代評估結果 · 兩種結果的選擇判斷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71A1F"/>
                </a:solidFill>
                <a:latin typeface="Microsoft JhengHei"/>
                <a:ea typeface="Microsoft JhengHei"/>
              </a:rPr>
              <a:t>A/B 驗證後依增益幅度二擇一 —— 授權為即使提升也須先過的閘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30352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5303520" cy="118872"/>
          </a:xfrm>
          <a:prstGeom prst="rect">
            <a:avLst/>
          </a:prstGeom>
          <a:solidFill>
            <a:srgbClr val="2C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048255"/>
            <a:ext cx="2788920" cy="384048"/>
          </a:xfrm>
          <a:prstGeom prst="roundRect">
            <a:avLst>
              <a:gd name="adj" fmla="val 6000"/>
            </a:avLst>
          </a:prstGeom>
          <a:solidFill>
            <a:srgbClr val="E7F2EF"/>
          </a:solidFill>
          <a:ln w="12700">
            <a:solidFill>
              <a:srgbClr val="2C7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48255"/>
            <a:ext cx="2788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C7A68"/>
                </a:solidFill>
                <a:latin typeface="Microsoft JhengHei"/>
                <a:ea typeface="Microsoft JhengHei"/>
              </a:rPr>
              <a:t>情境 A · 顯著提升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9689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71A1F"/>
                </a:solidFill>
                <a:latin typeface="Microsoft JhengHei"/>
                <a:ea typeface="Microsoft JhengHei"/>
              </a:rPr>
              <a:t>四量尺淨正向、超過收案門檻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C7A68"/>
                </a:solidFill>
                <a:latin typeface="Microsoft JhengHei"/>
                <a:ea typeface="Microsoft JhengHei"/>
              </a:rPr>
              <a:t>判斷 → 進入授權評估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84448"/>
            <a:ext cx="47548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4B535F"/>
                </a:solidFill>
                <a:latin typeface="Microsoft JhengHei"/>
                <a:ea typeface="Microsoft JhengHei"/>
              </a:rPr>
              <a:t>·  交法務審查 DINOv3 自訂授權（標示義務、散布條款、法律風險）</a:t>
            </a:r>
          </a:p>
          <a:p>
            <a:pPr algn="l">
              <a:lnSpc>
                <a:spcPct val="128000"/>
              </a:lnSpc>
              <a:spcBef>
                <a:spcPts val="700"/>
              </a:spcBef>
            </a:pPr>
            <a:r>
              <a:rPr sz="1250" b="0">
                <a:solidFill>
                  <a:srgbClr val="4B535F"/>
                </a:solidFill>
                <a:latin typeface="Microsoft JhengHei"/>
                <a:ea typeface="Microsoft JhengHei"/>
              </a:rPr>
              <a:t>·  權衡：增益幅度 vs 授權負擔＋「Built with DINOv3」標示＋換機重訓成本</a:t>
            </a:r>
          </a:p>
          <a:p>
            <a:pPr algn="l">
              <a:lnSpc>
                <a:spcPct val="128000"/>
              </a:lnSpc>
              <a:spcBef>
                <a:spcPts val="700"/>
              </a:spcBef>
            </a:pPr>
            <a:r>
              <a:rPr sz="1250" b="0">
                <a:solidFill>
                  <a:srgbClr val="4B535F"/>
                </a:solidFill>
                <a:latin typeface="Microsoft JhengHei"/>
                <a:ea typeface="Microsoft JhengHei"/>
              </a:rPr>
              <a:t>·  法務放行 → 採用 DINOv3；否則仍留 DINOv2，並記錄「因授權捨棄可用增益」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1737360"/>
            <a:ext cx="530352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2512" y="1737360"/>
            <a:ext cx="5303520" cy="118872"/>
          </a:xfrm>
          <a:prstGeom prst="rect">
            <a:avLst/>
          </a:prstGeom>
          <a:solidFill>
            <a:srgbClr val="2C6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56831" y="2048255"/>
            <a:ext cx="3063240" cy="384048"/>
          </a:xfrm>
          <a:prstGeom prst="roundRect">
            <a:avLst>
              <a:gd name="adj" fmla="val 6000"/>
            </a:avLst>
          </a:prstGeom>
          <a:solidFill>
            <a:srgbClr val="EAF1F7"/>
          </a:solidFill>
          <a:ln w="12700">
            <a:solidFill>
              <a:srgbClr val="2C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1" y="2048255"/>
            <a:ext cx="3063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C6B9C"/>
                </a:solidFill>
                <a:latin typeface="Microsoft JhengHei"/>
                <a:ea typeface="Microsoft JhengHei"/>
              </a:rPr>
              <a:t>情境 B · 提升不明顯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1" y="259689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71A1F"/>
                </a:solidFill>
                <a:latin typeface="Microsoft JhengHei"/>
                <a:ea typeface="Microsoft JhengHei"/>
              </a:rPr>
              <a:t>持平／倒退／增益 &lt; 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1" y="30175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C6B9C"/>
                </a:solidFill>
                <a:latin typeface="Microsoft JhengHei"/>
                <a:ea typeface="Microsoft JhengHei"/>
              </a:rPr>
              <a:t>判斷 → 選擇 DINOv2（維持現狀）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1" y="3584448"/>
            <a:ext cx="47548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4B535F"/>
                </a:solidFill>
                <a:latin typeface="Microsoft JhengHei"/>
                <a:ea typeface="Microsoft JhengHei"/>
              </a:rPr>
              <a:t>·  授權：DINOv2 為 Apache 2.0 乾淨可商用，無標示義務、無法律審查負擔</a:t>
            </a:r>
          </a:p>
          <a:p>
            <a:pPr algn="l">
              <a:lnSpc>
                <a:spcPct val="128000"/>
              </a:lnSpc>
              <a:spcBef>
                <a:spcPts val="700"/>
              </a:spcBef>
            </a:pPr>
            <a:r>
              <a:rPr sz="1250" b="0">
                <a:solidFill>
                  <a:srgbClr val="4B535F"/>
                </a:solidFill>
                <a:latin typeface="Microsoft JhengHei"/>
                <a:ea typeface="Microsoft JhengHei"/>
              </a:rPr>
              <a:t>·  成本：零遷移、零重訓算力、零換機停機</a:t>
            </a:r>
          </a:p>
          <a:p>
            <a:pPr algn="l">
              <a:lnSpc>
                <a:spcPct val="128000"/>
              </a:lnSpc>
              <a:spcBef>
                <a:spcPts val="700"/>
              </a:spcBef>
            </a:pPr>
            <a:r>
              <a:rPr sz="1250" b="0">
                <a:solidFill>
                  <a:srgbClr val="4B535F"/>
                </a:solidFill>
                <a:latin typeface="Microsoft JhengHei"/>
                <a:ea typeface="Microsoft JhengHei"/>
              </a:rPr>
              <a:t>·  紀律：增益不足以支撐授權風險＋工程成本，違反「淨正向才收」鐵律</a:t>
            </a:r>
          </a:p>
          <a:p>
            <a:pPr algn="l">
              <a:lnSpc>
                <a:spcPct val="128000"/>
              </a:lnSpc>
              <a:spcBef>
                <a:spcPts val="700"/>
              </a:spcBef>
            </a:pPr>
            <a:r>
              <a:rPr sz="1250" b="0">
                <a:solidFill>
                  <a:srgbClr val="4B535F"/>
                </a:solidFill>
                <a:latin typeface="Microsoft JhengHei"/>
                <a:ea typeface="Microsoft JhengHei"/>
              </a:rPr>
              <a:t>·  上限：切割層／資訊下限／零樣本類別非 backbone 可攻，天花板已知偏低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C6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6B9C"/>
                </a:solidFill>
                <a:latin typeface="Microsoft JhengHei"/>
                <a:ea typeface="Microsoft JhengHei"/>
              </a:rPr>
              <a:t>需主管拍板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960120"/>
            <a:ext cx="10817352" cy="3383280"/>
          </a:xfrm>
          <a:prstGeom prst="roundRect">
            <a:avLst>
              <a:gd name="adj" fmla="val 6000"/>
            </a:avLst>
          </a:prstGeom>
          <a:solidFill>
            <a:srgbClr val="EAF1F7"/>
          </a:solidFill>
          <a:ln w="12700">
            <a:solidFill>
              <a:srgbClr val="CF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37160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C6B9C"/>
                </a:solidFill>
                <a:latin typeface="Microsoft JhengHei"/>
                <a:ea typeface="Microsoft JhengHei"/>
              </a:rPr>
              <a:t>1. 授權立場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371600"/>
            <a:ext cx="8321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71A1F"/>
                </a:solidFill>
                <a:latin typeface="Microsoft JhengHei"/>
                <a:ea typeface="Microsoft JhengHei"/>
              </a:rPr>
              <a:t>DINOv3 自訂授權＋「Built with DINOv3」標示＋法務審查，是否可接受？（不接受＝本案終止，維持 DINOv2）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0428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C6B9C"/>
                </a:solidFill>
                <a:latin typeface="Microsoft JhengHei"/>
                <a:ea typeface="Microsoft JhengHei"/>
              </a:rPr>
              <a:t>2. 若可接受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304288"/>
            <a:ext cx="8321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71A1F"/>
                </a:solidFill>
                <a:latin typeface="Microsoft JhengHei"/>
                <a:ea typeface="Microsoft JhengHei"/>
              </a:rPr>
              <a:t>是否核准換機算力，投入三頭重訓的 A/B 驗證？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36976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C6B9C"/>
                </a:solidFill>
                <a:latin typeface="Microsoft JhengHei"/>
                <a:ea typeface="Microsoft JhengHei"/>
              </a:rPr>
              <a:t>3. 期望校準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236976"/>
            <a:ext cx="8321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71A1F"/>
                </a:solidFill>
                <a:latin typeface="Microsoft JhengHei"/>
                <a:ea typeface="Microsoft JhengHei"/>
              </a:rPr>
              <a:t>是否理解增益上限受切割層／資訊下限／零樣本類別所限，backbone 可攻頭空間有限？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63440"/>
            <a:ext cx="10817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A828E"/>
                </a:solidFill>
                <a:latin typeface="Microsoft JhengHei"/>
                <a:ea typeface="Microsoft JhengHei"/>
              </a:rPr>
              <a:t>來源  ai.meta.com/resources/models-and-libraries/dinov3-license · github.com/facebookresearch/dinov3 (LICENSE.md / MODEL_CARD.md) · BigGo：DINOv3 Commercial License Controversy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050" b="0">
                <a:solidFill>
                  <a:srgbClr val="7A828E"/>
                </a:solidFill>
                <a:latin typeface="Microsoft JhengHei"/>
                <a:ea typeface="Microsoft JhengHei"/>
              </a:rPr>
              <a:t>內部  room_classifier.py 授權宣告 · Readme.md v2.33 已知待辦 · FloorTraining.md §3 重訓鐵律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C6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C6B9C"/>
                </a:solidFill>
                <a:latin typeface="Microsoft JhengHei"/>
              </a:rPr>
              <a:t>進度更新  ·  兩道關卡已解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71A1F"/>
                </a:solidFill>
                <a:latin typeface="Microsoft JhengHei"/>
              </a:rPr>
              <a:t>更新 · 2026-08-12：授權核准通過，DINOv3 探針數字回填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89920" cy="868680"/>
          </a:xfrm>
          <a:prstGeom prst="roundRect">
            <a:avLst/>
          </a:prstGeom>
          <a:solidFill>
            <a:srgbClr val="E7F2EF"/>
          </a:solidFill>
          <a:ln w="12700">
            <a:solidFill>
              <a:srgbClr val="2C7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9728" cy="868680"/>
          </a:xfrm>
          <a:prstGeom prst="rect">
            <a:avLst/>
          </a:prstGeom>
          <a:solidFill>
            <a:srgbClr val="2C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5564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C7A68"/>
                </a:solidFill>
                <a:latin typeface="Microsoft JhengHei"/>
              </a:rPr>
              <a:t>門禁已核准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2140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36B"/>
                </a:solidFill>
                <a:latin typeface="Microsoft JhengHei"/>
              </a:rPr>
              <a:t>HF gated access granted（帳號 CodyCH，2026-08-12）· token canReadGatedRepos=true · gated config.json 由 401→</a:t>
            </a:r>
            <a:r>
              <a:rPr sz="1250" b="1">
                <a:solidFill>
                  <a:srgbClr val="2C7A68"/>
                </a:solidFill>
                <a:latin typeface="Microsoft JhengHei"/>
              </a:rPr>
              <a:t>HTTP 200</a:t>
            </a:r>
            <a:r>
              <a:rPr sz="1250" b="0">
                <a:solidFill>
                  <a:srgbClr val="5C636B"/>
                </a:solidFill>
                <a:latin typeface="Microsoft JhengHei"/>
              </a:rPr>
              <a:t>，權重實際下載成功。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3291840" cy="502920"/>
          </a:xfrm>
          <a:prstGeom prst="rect">
            <a:avLst/>
          </a:prstGeom>
          <a:solidFill>
            <a:srgbClr val="2C6B9C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3017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特徵可分性量尺（LOO，零重訓）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2743200"/>
            <a:ext cx="2468880" cy="502920"/>
          </a:xfrm>
          <a:prstGeom prst="rect">
            <a:avLst/>
          </a:prstGeom>
          <a:solidFill>
            <a:srgbClr val="2C6B9C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74320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DINOv2 基準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743200"/>
            <a:ext cx="2468880" cy="502920"/>
          </a:xfrm>
          <a:prstGeom prst="rect">
            <a:avLst/>
          </a:prstGeom>
          <a:solidFill>
            <a:srgbClr val="2C6B9C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DINOv3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2743200"/>
            <a:ext cx="2560320" cy="502920"/>
          </a:xfrm>
          <a:prstGeom prst="rect">
            <a:avLst/>
          </a:prstGeom>
          <a:solidFill>
            <a:srgbClr val="2C6B9C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74320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46120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46120"/>
            <a:ext cx="3017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71A1F"/>
                </a:solidFill>
                <a:latin typeface="Microsoft JhengHei"/>
              </a:rPr>
              <a:t>最近質心 NC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324612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3246120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0">
                <a:solidFill>
                  <a:srgbClr val="5C636B"/>
                </a:solidFill>
                <a:latin typeface="Microsoft JhengHei"/>
              </a:rPr>
              <a:t>0.536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24612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246120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2C6B9C"/>
                </a:solidFill>
                <a:latin typeface="Microsoft JhengHei"/>
              </a:rPr>
              <a:t>0.573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324612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324612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2C7A68"/>
                </a:solidFill>
                <a:latin typeface="Microsoft JhengHei"/>
              </a:rPr>
              <a:t>+0.037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749039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749039"/>
            <a:ext cx="3017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71A1F"/>
                </a:solidFill>
                <a:latin typeface="Microsoft JhengHei"/>
              </a:rPr>
              <a:t>kNN (k=5)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3749039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3749039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0">
                <a:solidFill>
                  <a:srgbClr val="5C636B"/>
                </a:solidFill>
                <a:latin typeface="Microsoft JhengHei"/>
              </a:rPr>
              <a:t>0.621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3749039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749039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2C6B9C"/>
                </a:solidFill>
                <a:latin typeface="Microsoft JhengHei"/>
              </a:rPr>
              <a:t>0.657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3749039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3749039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2C7A68"/>
                </a:solidFill>
                <a:latin typeface="Microsoft JhengHei"/>
              </a:rPr>
              <a:t>+0.036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29768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36B"/>
                </a:solidFill>
                <a:latin typeface="Microsoft JhengHei"/>
              </a:rPr>
              <a:t>口徑：灰階 train 248 房裁切、每類上限 40、9 類、TTA off；同前處理只換骨幹的公平對比。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526280"/>
            <a:ext cx="53035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469087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71A1F"/>
                </a:solidFill>
                <a:latin typeface="Microsoft JhengHei"/>
              </a:rPr>
              <a:t>逐類 recall 變化（DINOv2 → DINOv3）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056632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7A68"/>
                </a:solidFill>
                <a:latin typeface="Microsoft JhengHei"/>
              </a:rPr>
              <a:t>Storage +0.24</a:t>
            </a:r>
            <a:r>
              <a:rPr sz="1200" b="0">
                <a:solidFill>
                  <a:srgbClr val="5C636B"/>
                </a:solidFill>
                <a:latin typeface="Microsoft JhengHei"/>
              </a:rPr>
              <a:t>（0.41→0.65，最大贏面）· Balcony +0.09 · Entry +0.08 · Hallway +0.05 · Kitchen +0.03 · Bath −0.03 · Bedroom/Stair 1.00 持平 · </a:t>
            </a:r>
            <a:r>
              <a:rPr sz="1200" b="1">
                <a:solidFill>
                  <a:srgbClr val="B06A1F"/>
                </a:solidFill>
                <a:latin typeface="Microsoft JhengHei"/>
              </a:rPr>
              <a:t>LivingRoom 0.075 完全不變</a:t>
            </a:r>
            <a:r>
              <a:rPr sz="1200" b="0">
                <a:solidFill>
                  <a:srgbClr val="5C636B"/>
                </a:solidFill>
                <a:latin typeface="Microsoft JhengHei"/>
              </a:rPr>
              <a:t>（開放式，屬幾何/資訊層，骨幹攻不到）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526280"/>
            <a:ext cx="5120640" cy="1600200"/>
          </a:xfrm>
          <a:prstGeom prst="roundRect">
            <a:avLst/>
          </a:prstGeom>
          <a:solidFill>
            <a:srgbClr val="FBF1E2"/>
          </a:solidFill>
          <a:ln w="12700">
            <a:solidFill>
              <a:srgbClr val="B0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469087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B06A1F"/>
                </a:solidFill>
                <a:latin typeface="Microsoft JhengHei"/>
              </a:rPr>
              <a:t>判讀 · 落點偏情境 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056632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71A1F"/>
                </a:solidFill>
                <a:latin typeface="Microsoft JhengHei"/>
              </a:rPr>
              <a:t>小幅但一致的正向（NC/kNN 各約 +0.036，相對 ~6%），非量級躍升。此為原始特徵可分性上限、非端到端辨識率。建議下一步「裝線性頭實測 top-1」再拍板，勿只憑可分性；授權關卡仍在（Meta 自訂授權須法務）。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35508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36B"/>
                </a:solidFill>
                <a:latin typeface="Microsoft JhengHei"/>
              </a:rPr>
              <a:t>來源  temp/json/dino_probe_facebook_dinov3-vits16-pretrain-lvd1689m.json ／ dino_probe_dinov2_vits14.json · training/scripts/probe_dino_backbone.py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